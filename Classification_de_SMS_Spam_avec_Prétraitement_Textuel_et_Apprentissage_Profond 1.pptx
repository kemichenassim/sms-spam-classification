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4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3398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5326838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571500"/>
            <a:ext cx="4476731" cy="977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731" b="1" kern="0" spc="-2" dirty="0">
                <a:solidFill>
                  <a:srgbClr val="1A1A1A"/>
                </a:solidFill>
              </a:rPr>
              <a:t>Classification
de SMS Spam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428625" y="1834493"/>
            <a:ext cx="447673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Avec Prétraitement Textuel et Apprentissage Profond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428625" y="4050506"/>
            <a:ext cx="4476731" cy="52149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</a:rPr>
              <a:t>Évaluation Sommative UA3
 IA &amp; Prétraitement des données</a:t>
            </a:r>
            <a:endParaRPr lang="en-US" sz="885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81" y="0"/>
            <a:ext cx="3809991" cy="41183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19731" y="4404122"/>
            <a:ext cx="3238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Cours 8, 9, 10 et 11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5619731" y="4630936"/>
            <a:ext cx="3238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Décembre 2025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910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Objectifs et Approches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180505"/>
            <a:ext cx="2679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01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839446" y="1243013"/>
            <a:ext cx="3518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Prétraitement Textuel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839446" y="1534120"/>
            <a:ext cx="351824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Normalisation, tokenisation et lemmatisation pour réduire le bruit 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108467"/>
            <a:ext cx="2679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02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839446" y="2170974"/>
            <a:ext cx="3518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Vectorisation TF-IDF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839446" y="2462082"/>
            <a:ext cx="351824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Transformation statistique basée sur la fréquence des termes discriminants.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3036429"/>
            <a:ext cx="2679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03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839446" y="3098936"/>
            <a:ext cx="3518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Autoencodeur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839446" y="3390044"/>
            <a:ext cx="2340384" cy="16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Réduction de dimensionnalité non-</a:t>
            </a:r>
            <a:r>
              <a:rPr lang="en-US" sz="942" dirty="0" err="1">
                <a:solidFill>
                  <a:srgbClr val="333333"/>
                </a:solidFill>
              </a:rPr>
              <a:t>supervisée</a:t>
            </a:r>
            <a:r>
              <a:rPr lang="en-US" sz="942" dirty="0">
                <a:solidFill>
                  <a:srgbClr val="333333"/>
                </a:solidFill>
              </a:rPr>
              <a:t> 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28625" y="3784374"/>
            <a:ext cx="2679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04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839446" y="3846881"/>
            <a:ext cx="3518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Modèle BERT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839446" y="4137989"/>
            <a:ext cx="351824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Compréhension sémantique profonde via Transformers.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786313" y="1180505"/>
            <a:ext cx="3929063" cy="331751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467650"/>
            <a:ext cx="3643313" cy="250031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29188" y="4075119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Flux de travail typique : du dataset à la classification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28625" y="4783773"/>
            <a:ext cx="8286750" cy="77866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42938" y="5085597"/>
            <a:ext cx="10658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3B30"/>
                </a:solidFill>
              </a:rPr>
              <a:t>Méthodologie</a:t>
            </a:r>
            <a:endParaRPr lang="en-US" sz="885" dirty="0"/>
          </a:p>
        </p:txBody>
      </p:sp>
      <p:sp>
        <p:nvSpPr>
          <p:cNvPr id="23" name="Text 19"/>
          <p:cNvSpPr/>
          <p:nvPr/>
        </p:nvSpPr>
        <p:spPr>
          <a:xfrm>
            <a:off x="1851682" y="4998086"/>
            <a:ext cx="664938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Comparaison rigoureuse basée sur l'Accuracy, le Recall, la Précision et l'AUC-ROC pour identifier la meilleure approche.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28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Le Dataset SMS Spam Collection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066205"/>
            <a:ext cx="3929063" cy="99833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066205"/>
            <a:ext cx="35719" cy="99833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07219" y="1244798"/>
            <a:ext cx="35718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5,572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607219" y="1710928"/>
            <a:ext cx="3571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1" dirty="0">
                <a:solidFill>
                  <a:srgbClr val="666666"/>
                </a:solidFill>
              </a:rPr>
              <a:t>Messages Totaux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28625" y="2178844"/>
            <a:ext cx="1616971" cy="36968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28625" y="2178844"/>
            <a:ext cx="161697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Classe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2045596" y="2178844"/>
            <a:ext cx="942138" cy="36968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045596" y="2178844"/>
            <a:ext cx="94213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Nombre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2987734" y="2178844"/>
            <a:ext cx="1369954" cy="36968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2987734" y="2178844"/>
            <a:ext cx="1369954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Pourcentage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28625" y="2548533"/>
            <a:ext cx="1616971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Ham (Légitime)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045596" y="2548533"/>
            <a:ext cx="942138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4,825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987734" y="2548533"/>
            <a:ext cx="1369954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86.6%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8625" y="2961084"/>
            <a:ext cx="1616971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Spam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045596" y="2961084"/>
            <a:ext cx="942138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747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987734" y="2961084"/>
            <a:ext cx="1369954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13.4%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8625" y="3495080"/>
            <a:ext cx="3929063" cy="80188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28625" y="3495080"/>
            <a:ext cx="35719" cy="801886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07219" y="3673673"/>
            <a:ext cx="3571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1" dirty="0">
                <a:solidFill>
                  <a:srgbClr val="666666"/>
                </a:solidFill>
              </a:rPr>
              <a:t>Source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607219" y="3884414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UCI Machine Learning Repository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428625" y="4411266"/>
            <a:ext cx="3929063" cy="635794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71500" y="461218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⚠️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892969" y="4554141"/>
            <a:ext cx="332184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DÉFI MAJEUR : Le déséquilibre des classes risque de biaiser le modèle vers la classe majoritaire.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4786313" y="1066205"/>
            <a:ext cx="3929063" cy="398085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1627882"/>
            <a:ext cx="33575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8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Analyse Exploratoire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105495"/>
            <a:ext cx="3571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Longueur Moyenne (Ham)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1303734"/>
            <a:ext cx="3571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70 caractères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1760934"/>
            <a:ext cx="3571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~15 mots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177058"/>
            <a:ext cx="3571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Longueur Moyenne (Spam)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375297"/>
            <a:ext cx="3571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1269" dirty="0">
                <a:solidFill>
                  <a:srgbClr val="666666"/>
                </a:solidFill>
              </a:rPr>
              <a:t>140 caractères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2832497"/>
            <a:ext cx="3571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3B30"/>
                </a:solidFill>
              </a:rPr>
              <a:t>~25 mots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3391495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5,169 messages uniques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3637955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Aucune valeur manquante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429125" y="1066205"/>
            <a:ext cx="4286250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280517"/>
            <a:ext cx="3843338" cy="24145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8625" y="4095155"/>
            <a:ext cx="8286750" cy="6750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571500" y="4276427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3B30"/>
                </a:solidFill>
              </a:rPr>
              <a:t>💡</a:t>
            </a:r>
            <a:endParaRPr lang="en-US" sz="1704" dirty="0"/>
          </a:p>
        </p:txBody>
      </p:sp>
      <p:sp>
        <p:nvSpPr>
          <p:cNvPr id="18" name="Text 14"/>
          <p:cNvSpPr/>
          <p:nvPr/>
        </p:nvSpPr>
        <p:spPr>
          <a:xfrm>
            <a:off x="1000125" y="4238030"/>
            <a:ext cx="757237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Découverte Majeure :</a:t>
            </a:r>
            <a:r>
              <a:rPr lang="en-US" sz="1050" dirty="0">
                <a:solidFill>
                  <a:srgbClr val="F2F2F2"/>
                </a:solidFill>
              </a:rPr>
              <a:t> Les messages SPAM sont systématiquement </a:t>
            </a:r>
            <a:r>
              <a:rPr lang="en-US" sz="987" b="1" dirty="0">
                <a:solidFill>
                  <a:srgbClr val="FFFFFF"/>
                </a:solidFill>
              </a:rPr>
              <a:t>deux fois plus longs</a:t>
            </a:r>
            <a:r>
              <a:rPr lang="en-US" sz="1050" dirty="0">
                <a:solidFill>
                  <a:srgbClr val="F2F2F2"/>
                </a:solidFill>
              </a:rPr>
              <a:t> que les messages légitimes, constituant une caractéristique discriminante essentielle.</a:t>
            </a:r>
            <a:endParaRPr lang="en-US" sz="98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0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Pipeline de Prétraitement Textuel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57250" y="1123355"/>
            <a:ext cx="30074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Conversion en minuscules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857250" y="1337667"/>
            <a:ext cx="30074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Normalisation pour éliminer la sensibilité à la casse.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857250" y="1669852"/>
            <a:ext cx="31351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Nettoyage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857250" y="1884164"/>
            <a:ext cx="31351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Suppression de la ponctuation et caractères spéciaux.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857250" y="2216348"/>
            <a:ext cx="28002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Tokenisation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857250" y="2430661"/>
            <a:ext cx="28002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Découpage du texte en unités lexicales (tokens).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857250" y="2762845"/>
            <a:ext cx="25155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Suppression des stopwords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857250" y="2977158"/>
            <a:ext cx="25155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Élimination des mots vides non-informatifs.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857250" y="3309342"/>
            <a:ext cx="25875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Lemmatisation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857250" y="3523655"/>
            <a:ext cx="25875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Réduction des mots à leur forme canonique.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750594" y="1332309"/>
            <a:ext cx="3964781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975" y="1403747"/>
            <a:ext cx="3809991" cy="214309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28625" y="4055864"/>
            <a:ext cx="8286750" cy="81581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42938" y="4270177"/>
            <a:ext cx="36004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3B30"/>
                </a:solidFill>
              </a:rPr>
              <a:t>Avant (Texte Brut)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642938" y="4477345"/>
            <a:ext cx="36004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"URGENT! You have won a FREE iPhone! Call NOW!!!"</a:t>
            </a:r>
            <a:endParaRPr lang="en-US" sz="942" dirty="0"/>
          </a:p>
        </p:txBody>
      </p:sp>
      <p:sp>
        <p:nvSpPr>
          <p:cNvPr id="21" name="Text 17"/>
          <p:cNvSpPr/>
          <p:nvPr/>
        </p:nvSpPr>
        <p:spPr>
          <a:xfrm>
            <a:off x="4457672" y="4297663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3B30"/>
                </a:solidFill>
              </a:rPr>
              <a:t>→</a:t>
            </a:r>
            <a:endParaRPr lang="en-US" sz="1704" dirty="0"/>
          </a:p>
        </p:txBody>
      </p:sp>
      <p:sp>
        <p:nvSpPr>
          <p:cNvPr id="22" name="Text 18"/>
          <p:cNvSpPr/>
          <p:nvPr/>
        </p:nvSpPr>
        <p:spPr>
          <a:xfrm>
            <a:off x="4900613" y="4270177"/>
            <a:ext cx="36004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3B30"/>
                </a:solidFill>
              </a:rPr>
              <a:t>Après (Texte Propre)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4900613" y="4477345"/>
            <a:ext cx="36004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"urgent win free iphone call"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79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Vectorisation TF-IDF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037630"/>
            <a:ext cx="6429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Une méthode statistique qui évalue l'importance d'un mot dans un document par rapport à la collection entière.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803406"/>
            <a:ext cx="8286750" cy="133588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023802" y="2089156"/>
            <a:ext cx="509639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kern="0" spc="-1" dirty="0">
                <a:solidFill>
                  <a:srgbClr val="FFFFFF"/>
                </a:solidFill>
              </a:rPr>
              <a:t>TF-IDF(t,d) = </a:t>
            </a:r>
            <a:r>
              <a:rPr lang="en-US" sz="2436" b="1" kern="0" spc="-1" dirty="0">
                <a:solidFill>
                  <a:srgbClr val="FF3B30"/>
                </a:solidFill>
              </a:rPr>
              <a:t>TF(t,d)</a:t>
            </a:r>
            <a:r>
              <a:rPr lang="en-US" sz="2592" kern="0" spc="-1" dirty="0">
                <a:solidFill>
                  <a:srgbClr val="FFFFFF"/>
                </a:solidFill>
              </a:rPr>
              <a:t> × log(N / </a:t>
            </a:r>
            <a:r>
              <a:rPr lang="en-US" sz="2436" b="1" kern="0" spc="-1" dirty="0">
                <a:solidFill>
                  <a:srgbClr val="FF3B30"/>
                </a:solidFill>
              </a:rPr>
              <a:t>df(t)</a:t>
            </a:r>
            <a:r>
              <a:rPr lang="en-US" sz="2592" kern="0" spc="-1" dirty="0">
                <a:solidFill>
                  <a:srgbClr val="FFFFFF"/>
                </a:solidFill>
              </a:rPr>
              <a:t>)</a:t>
            </a:r>
            <a:endParaRPr lang="en-US" sz="2592" dirty="0"/>
          </a:p>
        </p:txBody>
      </p:sp>
      <p:sp>
        <p:nvSpPr>
          <p:cNvPr id="7" name="Text 4"/>
          <p:cNvSpPr/>
          <p:nvPr/>
        </p:nvSpPr>
        <p:spPr>
          <a:xfrm>
            <a:off x="2276373" y="2698161"/>
            <a:ext cx="13364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TF = Fréquence du terme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3898534" y="2698161"/>
            <a:ext cx="11039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N = Total documents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288217" y="2698161"/>
            <a:ext cx="15794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df = Fréquence documentaire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28625" y="3425037"/>
            <a:ext cx="2619356" cy="13601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28625" y="3425037"/>
            <a:ext cx="2619356" cy="35719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07219" y="3603631"/>
            <a:ext cx="226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max_features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07219" y="3830445"/>
            <a:ext cx="226216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5 000</a:t>
            </a:r>
            <a:endParaRPr lang="en-US" sz="2121" dirty="0"/>
          </a:p>
        </p:txBody>
      </p:sp>
      <p:sp>
        <p:nvSpPr>
          <p:cNvPr id="14" name="Text 11"/>
          <p:cNvSpPr/>
          <p:nvPr/>
        </p:nvSpPr>
        <p:spPr>
          <a:xfrm>
            <a:off x="607219" y="4310862"/>
            <a:ext cx="22621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Termes les plus pertinents conservés pour limiter la dimensionnalité.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262294" y="3425037"/>
            <a:ext cx="2619384" cy="13601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262294" y="3425037"/>
            <a:ext cx="2619384" cy="35719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440888" y="3603631"/>
            <a:ext cx="2262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min_df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440888" y="3830445"/>
            <a:ext cx="226219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2</a:t>
            </a:r>
            <a:endParaRPr lang="en-US" sz="2121" dirty="0"/>
          </a:p>
        </p:txBody>
      </p:sp>
      <p:sp>
        <p:nvSpPr>
          <p:cNvPr id="19" name="Text 16"/>
          <p:cNvSpPr/>
          <p:nvPr/>
        </p:nvSpPr>
        <p:spPr>
          <a:xfrm>
            <a:off x="3440888" y="4310862"/>
            <a:ext cx="226219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Exclusion des termes trop rares (apparaissant dans &lt; 2 documents).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6095991" y="3425037"/>
            <a:ext cx="2619356" cy="13601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095991" y="3425037"/>
            <a:ext cx="2619356" cy="35719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274584" y="3603631"/>
            <a:ext cx="226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max_df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274584" y="3830445"/>
            <a:ext cx="226216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95%</a:t>
            </a:r>
            <a:endParaRPr lang="en-US" sz="2121" dirty="0"/>
          </a:p>
        </p:txBody>
      </p:sp>
      <p:sp>
        <p:nvSpPr>
          <p:cNvPr id="24" name="Text 21"/>
          <p:cNvSpPr/>
          <p:nvPr/>
        </p:nvSpPr>
        <p:spPr>
          <a:xfrm>
            <a:off x="6274584" y="4310862"/>
            <a:ext cx="22621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Exclusion des termes trop fréquents (présents dans &gt; 95% des docs).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428625" y="5035228"/>
            <a:ext cx="8286750" cy="480417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28625" y="5035228"/>
            <a:ext cx="8286750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A1A1A"/>
                </a:solidFill>
              </a:rPr>
              <a:t>Résultat : Transformation en vecteurs numériques de 5 000 dimensions</a:t>
            </a:r>
            <a:endParaRPr lang="en-US" sz="9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85750" y="428625"/>
            <a:ext cx="262890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94" b="1" kern="0" spc="-2" dirty="0">
                <a:solidFill>
                  <a:srgbClr val="F2F2F2"/>
                </a:solidFill>
              </a:rPr>
              <a:t>PERFOR
MANCE
</a:t>
            </a:r>
            <a:r>
              <a:rPr lang="en-US" sz="3294" b="1" kern="0" spc="-2" dirty="0">
                <a:solidFill>
                  <a:srgbClr val="FF3B30"/>
                </a:solidFill>
              </a:rPr>
              <a:t>TF-IDF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285750" y="2098784"/>
            <a:ext cx="2628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999999"/>
                </a:solidFill>
              </a:rPr>
              <a:t>Architecture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285750" y="2305952"/>
            <a:ext cx="26289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Réseau de neurones dense
 Couche cachée: 64 (ReLU)
 Sortie: Sigmoïde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57200" y="4157663"/>
            <a:ext cx="24574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Excellent équilibre entre simplicité, rapidité et performance pour la production.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29025" y="428625"/>
            <a:ext cx="11644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97.6%</a:t>
            </a:r>
            <a:endParaRPr lang="en-US" sz="2121" dirty="0"/>
          </a:p>
        </p:txBody>
      </p:sp>
      <p:sp>
        <p:nvSpPr>
          <p:cNvPr id="9" name="Text 6"/>
          <p:cNvSpPr/>
          <p:nvPr/>
        </p:nvSpPr>
        <p:spPr>
          <a:xfrm>
            <a:off x="3629025" y="873323"/>
            <a:ext cx="1164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Accuracy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936331" y="428625"/>
            <a:ext cx="11644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0.98</a:t>
            </a:r>
            <a:endParaRPr lang="en-US" sz="2121" dirty="0"/>
          </a:p>
        </p:txBody>
      </p:sp>
      <p:sp>
        <p:nvSpPr>
          <p:cNvPr id="11" name="Text 8"/>
          <p:cNvSpPr/>
          <p:nvPr/>
        </p:nvSpPr>
        <p:spPr>
          <a:xfrm>
            <a:off x="4936331" y="873323"/>
            <a:ext cx="1164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AUC-ROC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243638" y="428625"/>
            <a:ext cx="11644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92.9%</a:t>
            </a:r>
            <a:endParaRPr lang="en-US" sz="2121" dirty="0"/>
          </a:p>
        </p:txBody>
      </p:sp>
      <p:sp>
        <p:nvSpPr>
          <p:cNvPr id="13" name="Text 10"/>
          <p:cNvSpPr/>
          <p:nvPr/>
        </p:nvSpPr>
        <p:spPr>
          <a:xfrm>
            <a:off x="6243638" y="873323"/>
            <a:ext cx="1164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Precision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550944" y="428625"/>
            <a:ext cx="11644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FF3B30"/>
                </a:solidFill>
              </a:rPr>
              <a:t>87.3%</a:t>
            </a:r>
            <a:endParaRPr lang="en-US" sz="2121" dirty="0"/>
          </a:p>
        </p:txBody>
      </p:sp>
      <p:sp>
        <p:nvSpPr>
          <p:cNvPr id="15" name="Text 12"/>
          <p:cNvSpPr/>
          <p:nvPr/>
        </p:nvSpPr>
        <p:spPr>
          <a:xfrm>
            <a:off x="7550944" y="873323"/>
            <a:ext cx="1164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Recall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629025" y="1294805"/>
            <a:ext cx="5086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Matrice de Confusion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907631" y="1612702"/>
            <a:ext cx="2368153" cy="20716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Prédit Ham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347222" y="1612702"/>
            <a:ext cx="2368153" cy="20716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Prédit Spam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 rot="10800000">
            <a:off x="3629025" y="1891308"/>
            <a:ext cx="207169" cy="137606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Réel Ham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3907631" y="1891308"/>
            <a:ext cx="2368153" cy="137606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790275" y="2270373"/>
            <a:ext cx="6028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956</a:t>
            </a:r>
            <a:endParaRPr lang="en-US" sz="2436" dirty="0"/>
          </a:p>
        </p:txBody>
      </p:sp>
      <p:sp>
        <p:nvSpPr>
          <p:cNvPr id="22" name="Text 19"/>
          <p:cNvSpPr/>
          <p:nvPr/>
        </p:nvSpPr>
        <p:spPr>
          <a:xfrm>
            <a:off x="4766583" y="2772221"/>
            <a:ext cx="6502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</a:rPr>
              <a:t>Vrais Négatifs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6347222" y="1891308"/>
            <a:ext cx="2368153" cy="1376065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7330353" y="2270373"/>
            <a:ext cx="4018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10</a:t>
            </a:r>
            <a:endParaRPr lang="en-US" sz="2436" dirty="0"/>
          </a:p>
        </p:txBody>
      </p:sp>
      <p:sp>
        <p:nvSpPr>
          <p:cNvPr id="25" name="Text 22"/>
          <p:cNvSpPr/>
          <p:nvPr/>
        </p:nvSpPr>
        <p:spPr>
          <a:xfrm>
            <a:off x="7233298" y="2772221"/>
            <a:ext cx="5959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</a:rPr>
              <a:t>Faux Positifs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 rot="10800000">
            <a:off x="3629025" y="3338810"/>
            <a:ext cx="207169" cy="137606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Réel Spam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3907631" y="3338810"/>
            <a:ext cx="2368153" cy="1376065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890762" y="3717875"/>
            <a:ext cx="4018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19</a:t>
            </a:r>
            <a:endParaRPr lang="en-US" sz="2436" dirty="0"/>
          </a:p>
        </p:txBody>
      </p:sp>
      <p:sp>
        <p:nvSpPr>
          <p:cNvPr id="29" name="Text 26"/>
          <p:cNvSpPr/>
          <p:nvPr/>
        </p:nvSpPr>
        <p:spPr>
          <a:xfrm>
            <a:off x="4779197" y="4219724"/>
            <a:ext cx="6250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</a:rPr>
              <a:t>Faux Négatifs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6347222" y="3338810"/>
            <a:ext cx="2368153" cy="137606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7229866" y="3717875"/>
            <a:ext cx="6028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130</a:t>
            </a:r>
            <a:endParaRPr lang="en-US" sz="2436" dirty="0"/>
          </a:p>
        </p:txBody>
      </p:sp>
      <p:sp>
        <p:nvSpPr>
          <p:cNvPr id="32" name="Text 29"/>
          <p:cNvSpPr/>
          <p:nvPr/>
        </p:nvSpPr>
        <p:spPr>
          <a:xfrm>
            <a:off x="7220713" y="4219724"/>
            <a:ext cx="6211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</a:rPr>
              <a:t>Vrais Positifs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24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Échec de l'Autoencodeur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094780"/>
            <a:ext cx="2619356" cy="11912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094780"/>
            <a:ext cx="2619356" cy="3571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07219" y="1273373"/>
            <a:ext cx="226216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86.6%</a:t>
            </a:r>
            <a:endParaRPr lang="en-US" sz="2862" dirty="0"/>
          </a:p>
        </p:txBody>
      </p:sp>
      <p:sp>
        <p:nvSpPr>
          <p:cNvPr id="9" name="Text 6"/>
          <p:cNvSpPr/>
          <p:nvPr/>
        </p:nvSpPr>
        <p:spPr>
          <a:xfrm>
            <a:off x="607219" y="1744861"/>
            <a:ext cx="226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66666"/>
                </a:solidFill>
              </a:rPr>
              <a:t>Accuracy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07219" y="1935956"/>
            <a:ext cx="22621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Semble acceptable (Trompeur)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3262294" y="1094780"/>
            <a:ext cx="2619384" cy="1191220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62294" y="1094780"/>
            <a:ext cx="2619384" cy="35719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440888" y="1273373"/>
            <a:ext cx="226219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FF3B30"/>
                </a:solidFill>
              </a:rPr>
              <a:t>0%</a:t>
            </a:r>
            <a:endParaRPr lang="en-US" sz="2862" dirty="0"/>
          </a:p>
        </p:txBody>
      </p:sp>
      <p:sp>
        <p:nvSpPr>
          <p:cNvPr id="14" name="Text 11"/>
          <p:cNvSpPr/>
          <p:nvPr/>
        </p:nvSpPr>
        <p:spPr>
          <a:xfrm>
            <a:off x="3440888" y="1744861"/>
            <a:ext cx="2262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66666"/>
                </a:solidFill>
              </a:rPr>
              <a:t>Recall Spam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440888" y="1935956"/>
            <a:ext cx="22621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Aucun spam détecté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6095991" y="1094780"/>
            <a:ext cx="2619356" cy="1191220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95991" y="1094780"/>
            <a:ext cx="2619356" cy="35719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74584" y="1273373"/>
            <a:ext cx="226216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FF3B30"/>
                </a:solidFill>
              </a:rPr>
              <a:t>0.41</a:t>
            </a:r>
            <a:endParaRPr lang="en-US" sz="2862" dirty="0"/>
          </a:p>
        </p:txBody>
      </p:sp>
      <p:sp>
        <p:nvSpPr>
          <p:cNvPr id="19" name="Text 16"/>
          <p:cNvSpPr/>
          <p:nvPr/>
        </p:nvSpPr>
        <p:spPr>
          <a:xfrm>
            <a:off x="6274584" y="1744861"/>
            <a:ext cx="226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66666"/>
                </a:solidFill>
              </a:rPr>
              <a:t>AUC-ROC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274584" y="1935956"/>
            <a:ext cx="22621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Pire que l'aléatoire (0.5)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428625" y="2450306"/>
            <a:ext cx="3200400" cy="20677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42938" y="2664619"/>
            <a:ext cx="27717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B30"/>
                </a:solidFill>
              </a:rPr>
              <a:t>Comportement Observé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642938" y="2966442"/>
            <a:ext cx="2771775" cy="133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Le modèle prédit systématiquement TOUT comme "Ham" (Légitime).
 Il ignore totalement la classe minoritaire.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3914775" y="2450306"/>
            <a:ext cx="4800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Causes Principales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3914775" y="2827139"/>
            <a:ext cx="1674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3B30"/>
                </a:solidFill>
              </a:rPr>
              <a:t>0" counter(cause-counter)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271963" y="2821781"/>
            <a:ext cx="21507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Apprentissage non-supervisé :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4271963" y="2821781"/>
            <a:ext cx="3997375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L'autoencodeur optimise la reconstruction globale, pas la séparation des classes.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914775" y="3284339"/>
            <a:ext cx="1674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3B30"/>
                </a:solidFill>
              </a:rPr>
              <a:t>0" counter(cause-counter)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4271963" y="3278981"/>
            <a:ext cx="14894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Perte d'information :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4271963" y="3278981"/>
            <a:ext cx="4401834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La compression dimensionnelle élimine les signaux faibles qui distinguent le spam.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914775" y="3741539"/>
            <a:ext cx="1674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3B30"/>
                </a:solidFill>
              </a:rPr>
              <a:t>0" counter(cause-counter)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4271963" y="3736181"/>
            <a:ext cx="12194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Biais du dataset :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4271963" y="3736181"/>
            <a:ext cx="4239844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Avec 86.6% de Ham, le modèle minimise son erreur en prédisant toujours la majorité.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28625" y="4718056"/>
            <a:ext cx="828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428625" y="4718056"/>
            <a:ext cx="8286750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28625" y="4867182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3B30"/>
                </a:solidFill>
              </a:rPr>
              <a:t>⚠️</a:t>
            </a:r>
            <a:endParaRPr lang="en-US" sz="1397" dirty="0"/>
          </a:p>
        </p:txBody>
      </p:sp>
      <p:sp>
        <p:nvSpPr>
          <p:cNvPr id="37" name="Text 34"/>
          <p:cNvSpPr/>
          <p:nvPr/>
        </p:nvSpPr>
        <p:spPr>
          <a:xfrm>
            <a:off x="785813" y="4789494"/>
            <a:ext cx="7929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LEÇON FONDAMENTALE : L'accuracy seule est une métrique dangereusement trompeuse sur des datasets déséquilibrés.</a:t>
            </a: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346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Supériorité du Modèle BERT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180505"/>
            <a:ext cx="29003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98.25%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428625" y="1709142"/>
            <a:ext cx="29003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Accuracy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2327077"/>
            <a:ext cx="29003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0.9974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428625" y="2855714"/>
            <a:ext cx="29003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AUC-ROC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28625" y="3066455"/>
            <a:ext cx="29003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3B30"/>
                </a:solidFill>
              </a:rPr>
              <a:t>Performance quasi-parfaite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3645098"/>
            <a:ext cx="2900363" cy="11240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07219" y="3823692"/>
            <a:ext cx="2543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B30"/>
                </a:solidFill>
              </a:rPr>
              <a:t>Avantage Clé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07219" y="4050506"/>
            <a:ext cx="25431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Capture la sémantique contextuelle et les relations bidirectionnelles entre les mots, au-delà des simples mots-clés.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3743325" y="1180505"/>
            <a:ext cx="4972050" cy="178593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028" y="1251942"/>
            <a:ext cx="2560616" cy="164303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43325" y="3180755"/>
            <a:ext cx="4972050" cy="21252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3743325" y="3180755"/>
            <a:ext cx="2486025" cy="3500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3743325" y="3180755"/>
            <a:ext cx="2486025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Message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6229350" y="3180755"/>
            <a:ext cx="1267876" cy="3500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6229350" y="3180755"/>
            <a:ext cx="1267876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Prédiction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7497226" y="3180755"/>
            <a:ext cx="1218149" cy="3500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7497226" y="3180755"/>
            <a:ext cx="1218149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Confiance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3743325" y="3530798"/>
            <a:ext cx="2486025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"Hey! How are you doing?"</a:t>
            </a:r>
            <a:endParaRPr lang="en-US" sz="834" dirty="0"/>
          </a:p>
        </p:txBody>
      </p:sp>
      <p:sp>
        <p:nvSpPr>
          <p:cNvPr id="24" name="Shape 20"/>
          <p:cNvSpPr/>
          <p:nvPr/>
        </p:nvSpPr>
        <p:spPr>
          <a:xfrm>
            <a:off x="6336506" y="3637955"/>
            <a:ext cx="348453" cy="187523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6336506" y="3637955"/>
            <a:ext cx="348453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HAM</a:t>
            </a:r>
            <a:endParaRPr lang="en-US" sz="584" dirty="0"/>
          </a:p>
        </p:txBody>
      </p:sp>
      <p:sp>
        <p:nvSpPr>
          <p:cNvPr id="26" name="Text 22"/>
          <p:cNvSpPr/>
          <p:nvPr/>
        </p:nvSpPr>
        <p:spPr>
          <a:xfrm>
            <a:off x="7497226" y="3530798"/>
            <a:ext cx="1218149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99.99%</a:t>
            </a:r>
            <a:endParaRPr lang="en-US" sz="784" dirty="0"/>
          </a:p>
        </p:txBody>
      </p:sp>
      <p:sp>
        <p:nvSpPr>
          <p:cNvPr id="27" name="Text 23"/>
          <p:cNvSpPr/>
          <p:nvPr/>
        </p:nvSpPr>
        <p:spPr>
          <a:xfrm>
            <a:off x="3743325" y="3936206"/>
            <a:ext cx="2486025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"CONGRATULATIONS! You've won £10000!"</a:t>
            </a:r>
            <a:endParaRPr lang="en-US" sz="834" dirty="0"/>
          </a:p>
        </p:txBody>
      </p:sp>
      <p:sp>
        <p:nvSpPr>
          <p:cNvPr id="28" name="Shape 24"/>
          <p:cNvSpPr/>
          <p:nvPr/>
        </p:nvSpPr>
        <p:spPr>
          <a:xfrm>
            <a:off x="6336506" y="4081760"/>
            <a:ext cx="379651" cy="187523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6336506" y="4081760"/>
            <a:ext cx="379651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SPAM</a:t>
            </a:r>
            <a:endParaRPr lang="en-US" sz="584" dirty="0"/>
          </a:p>
        </p:txBody>
      </p:sp>
      <p:sp>
        <p:nvSpPr>
          <p:cNvPr id="30" name="Text 26"/>
          <p:cNvSpPr/>
          <p:nvPr/>
        </p:nvSpPr>
        <p:spPr>
          <a:xfrm>
            <a:off x="7497226" y="3936206"/>
            <a:ext cx="1218149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97.28%</a:t>
            </a:r>
            <a:endParaRPr lang="en-US" sz="784" dirty="0"/>
          </a:p>
        </p:txBody>
      </p:sp>
      <p:sp>
        <p:nvSpPr>
          <p:cNvPr id="31" name="Text 27"/>
          <p:cNvSpPr/>
          <p:nvPr/>
        </p:nvSpPr>
        <p:spPr>
          <a:xfrm>
            <a:off x="3743325" y="4414838"/>
            <a:ext cx="2486025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"URGENT: Your bank account compromised!"</a:t>
            </a:r>
            <a:endParaRPr lang="en-US" sz="834" dirty="0"/>
          </a:p>
        </p:txBody>
      </p:sp>
      <p:sp>
        <p:nvSpPr>
          <p:cNvPr id="32" name="Shape 28"/>
          <p:cNvSpPr/>
          <p:nvPr/>
        </p:nvSpPr>
        <p:spPr>
          <a:xfrm>
            <a:off x="6336506" y="4560391"/>
            <a:ext cx="379651" cy="187523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6336506" y="4560391"/>
            <a:ext cx="379651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SPAM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7497226" y="4414838"/>
            <a:ext cx="1218149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95.86%</a:t>
            </a:r>
            <a:endParaRPr lang="en-US" sz="784" dirty="0"/>
          </a:p>
        </p:txBody>
      </p:sp>
      <p:sp>
        <p:nvSpPr>
          <p:cNvPr id="35" name="Text 31"/>
          <p:cNvSpPr/>
          <p:nvPr/>
        </p:nvSpPr>
        <p:spPr>
          <a:xfrm>
            <a:off x="3743325" y="4893469"/>
            <a:ext cx="2486025" cy="4089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"Can you pick up some milk?"</a:t>
            </a:r>
            <a:endParaRPr lang="en-US" sz="834" dirty="0"/>
          </a:p>
        </p:txBody>
      </p:sp>
      <p:sp>
        <p:nvSpPr>
          <p:cNvPr id="36" name="Shape 32"/>
          <p:cNvSpPr/>
          <p:nvPr/>
        </p:nvSpPr>
        <p:spPr>
          <a:xfrm>
            <a:off x="6336506" y="5004197"/>
            <a:ext cx="348453" cy="187523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6336506" y="5004197"/>
            <a:ext cx="348453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HAM</a:t>
            </a:r>
            <a:endParaRPr lang="en-US" sz="584" dirty="0"/>
          </a:p>
        </p:txBody>
      </p:sp>
      <p:sp>
        <p:nvSpPr>
          <p:cNvPr id="38" name="Text 34"/>
          <p:cNvSpPr/>
          <p:nvPr/>
        </p:nvSpPr>
        <p:spPr>
          <a:xfrm>
            <a:off x="7497226" y="4893469"/>
            <a:ext cx="1218149" cy="4089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99.98%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74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Classement Final des Modèles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80505"/>
            <a:ext cx="4625550" cy="937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180505"/>
            <a:ext cx="57150" cy="93761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07219" y="1499295"/>
            <a:ext cx="3516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01</a:t>
            </a:r>
            <a:endParaRPr lang="en-US" sz="2121" dirty="0"/>
          </a:p>
        </p:txBody>
      </p:sp>
      <p:sp>
        <p:nvSpPr>
          <p:cNvPr id="9" name="Text 6"/>
          <p:cNvSpPr/>
          <p:nvPr/>
        </p:nvSpPr>
        <p:spPr>
          <a:xfrm>
            <a:off x="1101756" y="1359098"/>
            <a:ext cx="3016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BERT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101756" y="1628775"/>
            <a:ext cx="301697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Champion incontesté. Meilleure compréhension sémantique et contextuelle.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61610" y="1464469"/>
            <a:ext cx="6139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98.25%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261610" y="1698427"/>
            <a:ext cx="613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AUC 0.997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28625" y="2750846"/>
            <a:ext cx="4625550" cy="937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28625" y="2750846"/>
            <a:ext cx="57150" cy="93761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07219" y="3069636"/>
            <a:ext cx="3516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DDDDDD"/>
                </a:solidFill>
              </a:rPr>
              <a:t>02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1101756" y="2929440"/>
            <a:ext cx="3016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TF-IDF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1101756" y="3199116"/>
            <a:ext cx="301697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Challenger efficace. Excellent rapport performance / simplicité.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261610" y="3034810"/>
            <a:ext cx="6139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97.58%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261610" y="3268768"/>
            <a:ext cx="613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AUC 0.983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28625" y="4321187"/>
            <a:ext cx="4625550" cy="937617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28625" y="4321187"/>
            <a:ext cx="57150" cy="937617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07219" y="4639977"/>
            <a:ext cx="3516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FF3B30"/>
                </a:solidFill>
              </a:rPr>
              <a:t>03</a:t>
            </a:r>
            <a:endParaRPr lang="en-US" sz="2121" dirty="0"/>
          </a:p>
        </p:txBody>
      </p:sp>
      <p:sp>
        <p:nvSpPr>
          <p:cNvPr id="23" name="Text 20"/>
          <p:cNvSpPr/>
          <p:nvPr/>
        </p:nvSpPr>
        <p:spPr>
          <a:xfrm>
            <a:off x="1101756" y="4499781"/>
            <a:ext cx="3016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Autoencodeur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1101756" y="4769458"/>
            <a:ext cx="301697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Échec critique. Ne détecte aucun spam malgré une accuracy trompeuse.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261610" y="4605151"/>
            <a:ext cx="6139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B30"/>
                </a:solidFill>
              </a:rPr>
              <a:t>86.64%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4261610" y="4839109"/>
            <a:ext cx="613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AUC 0.413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5411363" y="1180505"/>
            <a:ext cx="330398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537" y="1287661"/>
            <a:ext cx="2923635" cy="121441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411363" y="2823567"/>
            <a:ext cx="3303984" cy="243526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5625675" y="3037880"/>
            <a:ext cx="28753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B30"/>
                </a:solidFill>
              </a:rPr>
              <a:t>Leçons Stratégiques</a:t>
            </a:r>
            <a:endParaRPr lang="en-US" sz="885" dirty="0"/>
          </a:p>
        </p:txBody>
      </p:sp>
      <p:sp>
        <p:nvSpPr>
          <p:cNvPr id="31" name="Text 27"/>
          <p:cNvSpPr/>
          <p:nvPr/>
        </p:nvSpPr>
        <p:spPr>
          <a:xfrm>
            <a:off x="5625675" y="3341489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3B30"/>
                </a:solidFill>
              </a:rPr>
              <a:t>•</a:t>
            </a:r>
            <a:endParaRPr lang="en-US" sz="1269" dirty="0"/>
          </a:p>
        </p:txBody>
      </p:sp>
      <p:sp>
        <p:nvSpPr>
          <p:cNvPr id="32" name="Text 28"/>
          <p:cNvSpPr/>
          <p:nvPr/>
        </p:nvSpPr>
        <p:spPr>
          <a:xfrm>
            <a:off x="5804269" y="3357563"/>
            <a:ext cx="2437135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L'accuracy seule est insuffisante pour les datasets déséquilibrés.</a:t>
            </a:r>
            <a:endParaRPr lang="en-US" sz="942" dirty="0"/>
          </a:p>
        </p:txBody>
      </p:sp>
      <p:sp>
        <p:nvSpPr>
          <p:cNvPr id="33" name="Text 29"/>
          <p:cNvSpPr/>
          <p:nvPr/>
        </p:nvSpPr>
        <p:spPr>
          <a:xfrm>
            <a:off x="5625675" y="3808679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3B30"/>
                </a:solidFill>
              </a:rPr>
              <a:t>•</a:t>
            </a:r>
            <a:endParaRPr lang="en-US" sz="1269" dirty="0"/>
          </a:p>
        </p:txBody>
      </p:sp>
      <p:sp>
        <p:nvSpPr>
          <p:cNvPr id="34" name="Text 30"/>
          <p:cNvSpPr/>
          <p:nvPr/>
        </p:nvSpPr>
        <p:spPr>
          <a:xfrm>
            <a:off x="5804269" y="3824753"/>
            <a:ext cx="23446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Toujours vérifier le Recall et l'AUC-ROC.</a:t>
            </a:r>
            <a:endParaRPr lang="en-US" sz="942" dirty="0"/>
          </a:p>
        </p:txBody>
      </p:sp>
      <p:sp>
        <p:nvSpPr>
          <p:cNvPr id="35" name="Text 31"/>
          <p:cNvSpPr/>
          <p:nvPr/>
        </p:nvSpPr>
        <p:spPr>
          <a:xfrm>
            <a:off x="5625675" y="4095852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3B30"/>
                </a:solidFill>
              </a:rPr>
              <a:t>•</a:t>
            </a:r>
            <a:endParaRPr lang="en-US" sz="1269" dirty="0"/>
          </a:p>
        </p:txBody>
      </p:sp>
      <p:sp>
        <p:nvSpPr>
          <p:cNvPr id="36" name="Text 32"/>
          <p:cNvSpPr/>
          <p:nvPr/>
        </p:nvSpPr>
        <p:spPr>
          <a:xfrm>
            <a:off x="5804269" y="4111926"/>
            <a:ext cx="2464259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La réduction non-supervisée peut perdre l'information discriminante critique.</a:t>
            </a:r>
            <a:endParaRPr lang="en-US" sz="942" dirty="0"/>
          </a:p>
        </p:txBody>
      </p:sp>
      <p:sp>
        <p:nvSpPr>
          <p:cNvPr id="37" name="Text 33"/>
          <p:cNvSpPr/>
          <p:nvPr/>
        </p:nvSpPr>
        <p:spPr>
          <a:xfrm>
            <a:off x="5625675" y="4563042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3B30"/>
                </a:solidFill>
              </a:rPr>
              <a:t>•</a:t>
            </a:r>
            <a:endParaRPr lang="en-US" sz="1269" dirty="0"/>
          </a:p>
        </p:txBody>
      </p:sp>
      <p:sp>
        <p:nvSpPr>
          <p:cNvPr id="38" name="Text 34"/>
          <p:cNvSpPr/>
          <p:nvPr/>
        </p:nvSpPr>
        <p:spPr>
          <a:xfrm>
            <a:off x="5804269" y="4579116"/>
            <a:ext cx="226018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Choisir le modèle selon le compromis performance vs coût.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013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71438" cy="46613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Améliorations Futures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180505"/>
            <a:ext cx="7545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Court Terme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798829" y="1180505"/>
            <a:ext cx="4874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0-3 MOIS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57225" y="1723430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Fine-tuning de BERT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57225" y="1953816"/>
            <a:ext cx="36290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Réentraîner les dernières couches spécifiquement sur le corpus SMS pour adapter le vocabulaire.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57225" y="2452427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Équilibrage (SMOTE)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57225" y="2682813"/>
            <a:ext cx="36290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Génération synthétique d'exemples de spam pour corriger le déséquilibre 87/13.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57225" y="3181424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Pondération des classes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57225" y="3411810"/>
            <a:ext cx="36290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Application de poids différenciés (class_weight) pour pénaliser les erreurs sur les spams.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857750" y="1180505"/>
            <a:ext cx="6945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Long Terme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8163604" y="1180505"/>
            <a:ext cx="5517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3-12 MOIS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086350" y="1723430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Autoencodeur Supervisé / VAE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086350" y="1953816"/>
            <a:ext cx="36290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Intégrer les étiquettes dans l'espace latent pour ne pas perdre l'information discriminante.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086350" y="2452427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Ensemble de Modèles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086350" y="2682813"/>
            <a:ext cx="36290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Combiner la rapidité de TF-IDF et la précision de BERT via un système de vote.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086350" y="3181424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Hyperparameter Tuning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086350" y="3411810"/>
            <a:ext cx="36290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Optimisation systématique (GridSearch) pour maximiser l'AUC-ROC.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428625" y="4017578"/>
            <a:ext cx="8286750" cy="115511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28625" y="4017578"/>
            <a:ext cx="71438" cy="1155111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78656" y="4390644"/>
            <a:ext cx="37504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6" dirty="0">
                <a:solidFill>
                  <a:srgbClr val="F2F2F2"/>
                </a:solidFill>
              </a:rPr>
              <a:t>🚀</a:t>
            </a:r>
            <a:endParaRPr lang="en-US" sz="2256" dirty="0"/>
          </a:p>
        </p:txBody>
      </p:sp>
      <p:sp>
        <p:nvSpPr>
          <p:cNvPr id="25" name="Text 22"/>
          <p:cNvSpPr/>
          <p:nvPr/>
        </p:nvSpPr>
        <p:spPr>
          <a:xfrm>
            <a:off x="1268016" y="4267609"/>
            <a:ext cx="71973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B30"/>
                </a:solidFill>
              </a:rPr>
              <a:t>Stratégie Hybride Prometteuse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268016" y="4514069"/>
            <a:ext cx="7197328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>
                <a:solidFill>
                  <a:srgbClr val="F2F2F2"/>
                </a:solidFill>
              </a:rPr>
              <a:t>Utiliser </a:t>
            </a:r>
            <a:r>
              <a:rPr lang="en-US" sz="1090" b="1" dirty="0">
                <a:solidFill>
                  <a:srgbClr val="FFFFFF"/>
                </a:solidFill>
              </a:rPr>
              <a:t>TF-IDF comme filtre rapide</a:t>
            </a:r>
            <a:r>
              <a:rPr lang="en-US" sz="1159" dirty="0">
                <a:solidFill>
                  <a:srgbClr val="F2F2F2"/>
                </a:solidFill>
              </a:rPr>
              <a:t> pour traiter 90% du flux, et activer </a:t>
            </a:r>
            <a:r>
              <a:rPr lang="en-US" sz="1090" b="1" dirty="0">
                <a:solidFill>
                  <a:srgbClr val="FFFFFF"/>
                </a:solidFill>
              </a:rPr>
              <a:t>BERT uniquement sur les cas ambigus</a:t>
            </a:r>
            <a:r>
              <a:rPr lang="en-US" sz="1159" dirty="0">
                <a:solidFill>
                  <a:srgbClr val="F2F2F2"/>
                </a:solidFill>
              </a:rPr>
              <a:t> pour optimiser le ratio coût/performance.</a:t>
            </a:r>
            <a:endParaRPr lang="en-US" sz="115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28625" y="1576090"/>
            <a:ext cx="17439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145" b="1" kern="0" spc="-2" dirty="0">
                <a:solidFill>
                  <a:srgbClr val="1A1A1A"/>
                </a:solidFill>
              </a:rPr>
              <a:t>QUES
TIONS
?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428625" y="3333452"/>
            <a:ext cx="23314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90000"/>
                  </a:srgbClr>
                </a:solidFill>
              </a:rPr>
              <a:t>Merci pour votre attention!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086225" y="571500"/>
            <a:ext cx="4629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Ressources du Projet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086225" y="850106"/>
            <a:ext cx="46291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000Projet_evaluation_UA3.ipynb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86225" y="1168003"/>
            <a:ext cx="46291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SMSSpamCollection (Dataset)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86225" y="1485900"/>
            <a:ext cx="46291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RESUME_PROJET_UA3.md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86225" y="3047591"/>
            <a:ext cx="4629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Points de Discussion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086225" y="3326197"/>
            <a:ext cx="4629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2F2F2"/>
                </a:solidFill>
              </a:rPr>
              <a:t>Quelle approche recommanderiez-vous pour un </a:t>
            </a:r>
            <a:r>
              <a:rPr lang="en-US" sz="1193" b="1" dirty="0">
                <a:solidFill>
                  <a:srgbClr val="FFFFFF"/>
                </a:solidFill>
              </a:rPr>
              <a:t>déploiement en production</a:t>
            </a:r>
            <a:r>
              <a:rPr lang="en-US" sz="1269" dirty="0">
                <a:solidFill>
                  <a:srgbClr val="F2F2F2"/>
                </a:solidFill>
              </a:rPr>
              <a:t> à grande échelle?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086225" y="3949098"/>
            <a:ext cx="4629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2F2F2"/>
                </a:solidFill>
              </a:rPr>
              <a:t>Comment gérer le compromis entre </a:t>
            </a:r>
            <a:r>
              <a:rPr lang="en-US" sz="1193" b="1" dirty="0">
                <a:solidFill>
                  <a:srgbClr val="FFFFFF"/>
                </a:solidFill>
              </a:rPr>
              <a:t>performance maximale</a:t>
            </a:r>
            <a:r>
              <a:rPr lang="en-US" sz="1269" dirty="0">
                <a:solidFill>
                  <a:srgbClr val="F2F2F2"/>
                </a:solidFill>
              </a:rPr>
              <a:t> (BERT) et </a:t>
            </a:r>
            <a:r>
              <a:rPr lang="en-US" sz="1193" b="1" dirty="0">
                <a:solidFill>
                  <a:srgbClr val="FFFFFF"/>
                </a:solidFill>
              </a:rPr>
              <a:t>coût computationnel</a:t>
            </a:r>
            <a:r>
              <a:rPr lang="en-US" sz="1269" dirty="0">
                <a:solidFill>
                  <a:srgbClr val="F2F2F2"/>
                </a:solidFill>
              </a:rPr>
              <a:t>?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992</Words>
  <Application>Microsoft Office PowerPoint</Application>
  <PresentationFormat>Affichage à l'écran (16:9)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Lounes Djayet</cp:lastModifiedBy>
  <cp:revision>2</cp:revision>
  <dcterms:created xsi:type="dcterms:W3CDTF">2025-12-09T03:34:57Z</dcterms:created>
  <dcterms:modified xsi:type="dcterms:W3CDTF">2025-12-09T03:37:43Z</dcterms:modified>
</cp:coreProperties>
</file>